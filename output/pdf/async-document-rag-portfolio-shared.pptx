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4656941e7549d4" /><Relationship Type="http://schemas.openxmlformats.org/officeDocument/2006/relationships/extended-properties" Target="/docProps/app.xml" Id="Recc9eb05fc5346cf" /><Relationship Type="http://schemas.openxmlformats.org/officeDocument/2006/relationships/officeDocument" Target="/ppt/presentation.xml" Id="Rad3101de1ae7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b83c10bab14343"/>
  </p:sldMasterIdLst>
  <p:notesMasterIdLst>
    <p:notesMasterId xmlns:r="http://schemas.openxmlformats.org/officeDocument/2006/relationships" r:id="R95181f23d24d49d4"/>
  </p:notesMasterIdLst>
  <p:sldIdLst>
    <p:sldId xmlns:r="http://schemas.openxmlformats.org/officeDocument/2006/relationships" id="256" r:id="R1a63716b42544b25"/>
    <p:sldId xmlns:r="http://schemas.openxmlformats.org/officeDocument/2006/relationships" id="257" r:id="R970820dda8e445cb"/>
    <p:sldId xmlns:r="http://schemas.openxmlformats.org/officeDocument/2006/relationships" id="258" r:id="R558a46f9330a4eba"/>
    <p:sldId xmlns:r="http://schemas.openxmlformats.org/officeDocument/2006/relationships" id="259" r:id="R71ba888cee4e4bd1"/>
    <p:sldId xmlns:r="http://schemas.openxmlformats.org/officeDocument/2006/relationships" id="260" r:id="Rac90d8feeba44387"/>
    <p:sldId xmlns:r="http://schemas.openxmlformats.org/officeDocument/2006/relationships" id="261" r:id="R28183546b79f4541"/>
    <p:sldId xmlns:r="http://schemas.openxmlformats.org/officeDocument/2006/relationships" id="262" r:id="Re26db864ac3f4cd9"/>
    <p:sldId xmlns:r="http://schemas.openxmlformats.org/officeDocument/2006/relationships" id="263" r:id="Rbf0d294501714f8c"/>
    <p:sldId xmlns:r="http://schemas.openxmlformats.org/officeDocument/2006/relationships" id="264" r:id="Rf017d4078e1546a4"/>
    <p:sldId xmlns:r="http://schemas.openxmlformats.org/officeDocument/2006/relationships" id="265" r:id="R999b8013bed64670"/>
    <p:sldId xmlns:r="http://schemas.openxmlformats.org/officeDocument/2006/relationships" id="266" r:id="R2211f379156d454f"/>
    <p:sldId xmlns:r="http://schemas.openxmlformats.org/officeDocument/2006/relationships" id="267" r:id="Re0a35ec31f7147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33d293ce34475d" /><Relationship Type="http://schemas.openxmlformats.org/officeDocument/2006/relationships/slideMaster" Target="/ppt/slideMasters/slideMaster1.xml" Id="R4cb83c10bab14343" /><Relationship Type="http://schemas.openxmlformats.org/officeDocument/2006/relationships/notesMaster" Target="/ppt/notesMasters/notesMaster1.xml" Id="R95181f23d24d49d4" /><Relationship Type="http://schemas.openxmlformats.org/officeDocument/2006/relationships/presProps" Target="/ppt/presProps.xml" Id="Re7b62cb86c134108" /><Relationship Type="http://schemas.openxmlformats.org/officeDocument/2006/relationships/viewProps" Target="/ppt/viewProps.xml" Id="R95e93524c0b54e17" /><Relationship Type="http://schemas.openxmlformats.org/officeDocument/2006/relationships/tableStyles" Target="/ppt/tableStyles.xml" Id="Rd19b54edc95b4705" /><Relationship Type="http://schemas.openxmlformats.org/officeDocument/2006/relationships/slide" Target="/ppt/slides/slide1.xml" Id="R1a63716b42544b25" /><Relationship Type="http://schemas.openxmlformats.org/officeDocument/2006/relationships/slide" Target="/ppt/slides/slide2.xml" Id="R970820dda8e445cb" /><Relationship Type="http://schemas.openxmlformats.org/officeDocument/2006/relationships/slide" Target="/ppt/slides/slide3.xml" Id="R558a46f9330a4eba" /><Relationship Type="http://schemas.openxmlformats.org/officeDocument/2006/relationships/slide" Target="/ppt/slides/slide4.xml" Id="R71ba888cee4e4bd1" /><Relationship Type="http://schemas.openxmlformats.org/officeDocument/2006/relationships/slide" Target="/ppt/slides/slide5.xml" Id="Rac90d8feeba44387" /><Relationship Type="http://schemas.openxmlformats.org/officeDocument/2006/relationships/slide" Target="/ppt/slides/slide6.xml" Id="R28183546b79f4541" /><Relationship Type="http://schemas.openxmlformats.org/officeDocument/2006/relationships/slide" Target="/ppt/slides/slide7.xml" Id="Re26db864ac3f4cd9" /><Relationship Type="http://schemas.openxmlformats.org/officeDocument/2006/relationships/slide" Target="/ppt/slides/slide8.xml" Id="Rbf0d294501714f8c" /><Relationship Type="http://schemas.openxmlformats.org/officeDocument/2006/relationships/slide" Target="/ppt/slides/slide9.xml" Id="Rf017d4078e1546a4" /><Relationship Type="http://schemas.openxmlformats.org/officeDocument/2006/relationships/slide" Target="/ppt/slides/slide10.xml" Id="R999b8013bed64670" /><Relationship Type="http://schemas.openxmlformats.org/officeDocument/2006/relationships/slide" Target="/ppt/slides/slide11.xml" Id="R2211f379156d454f" /><Relationship Type="http://schemas.openxmlformats.org/officeDocument/2006/relationships/slide" Target="/ppt/slides/slide12.xml" Id="Re0a35ec31f7147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95f3872d14c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d948e5898f474d" /><Relationship Type="http://schemas.openxmlformats.org/officeDocument/2006/relationships/notesMaster" Target="/ppt/notesMasters/notesMaster1.xml" Id="R9cd8bd1cf88542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4ee75205fd4792" /><Relationship Type="http://schemas.openxmlformats.org/officeDocument/2006/relationships/notesMaster" Target="/ppt/notesMasters/notesMaster1.xml" Id="R982d26c14dbc41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55df156a84dcb" /><Relationship Type="http://schemas.openxmlformats.org/officeDocument/2006/relationships/notesMaster" Target="/ppt/notesMasters/notesMaster1.xml" Id="R8aa4da81052641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1c6bcf16214417" /><Relationship Type="http://schemas.openxmlformats.org/officeDocument/2006/relationships/notesMaster" Target="/ppt/notesMasters/notesMaster1.xml" Id="Rd05ec99a5e2943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19ba6647f24257" /><Relationship Type="http://schemas.openxmlformats.org/officeDocument/2006/relationships/notesMaster" Target="/ppt/notesMasters/notesMaster1.xml" Id="R869a1026722c49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869c614ad54b26" /><Relationship Type="http://schemas.openxmlformats.org/officeDocument/2006/relationships/notesMaster" Target="/ppt/notesMasters/notesMaster1.xml" Id="Rb14cf5ac7fad4a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d5d48cf57a4f08" /><Relationship Type="http://schemas.openxmlformats.org/officeDocument/2006/relationships/notesMaster" Target="/ppt/notesMasters/notesMaster1.xml" Id="Re22022ef2c054a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cfecc9aa884e63" /><Relationship Type="http://schemas.openxmlformats.org/officeDocument/2006/relationships/notesMaster" Target="/ppt/notesMasters/notesMaster1.xml" Id="Rd7308a0ed18b42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8b309a44ac4425" /><Relationship Type="http://schemas.openxmlformats.org/officeDocument/2006/relationships/notesMaster" Target="/ppt/notesMasters/notesMaster1.xml" Id="Re29b0f85362c41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e2971e7d8c4424" /><Relationship Type="http://schemas.openxmlformats.org/officeDocument/2006/relationships/notesMaster" Target="/ppt/notesMasters/notesMaster1.xml" Id="Rb07e8940557646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9f0e0760394c24" /><Relationship Type="http://schemas.openxmlformats.org/officeDocument/2006/relationships/notesMaster" Target="/ppt/notesMasters/notesMaster1.xml" Id="Rd523570abcb54b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2b465671ce4918" /><Relationship Type="http://schemas.openxmlformats.org/officeDocument/2006/relationships/notesMaster" Target="/ppt/notesMasters/notesMaster1.xml" Id="R2ba3ef239e604b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46eb14c3c4f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0657ba84c49e9" /><Relationship Type="http://schemas.openxmlformats.org/officeDocument/2006/relationships/slideLayout" Target="/ppt/slideLayouts/slideLayout1.xml" Id="R917771ac5d2c45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771ac5d2c45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9f5c90cdd4e31" /><Relationship Type="http://schemas.openxmlformats.org/officeDocument/2006/relationships/notesSlide" Target="/ppt/notesSlides/notesSlide1.xml" Id="R4e41610a40bf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f74cadb414ad2" /><Relationship Type="http://schemas.openxmlformats.org/officeDocument/2006/relationships/notesSlide" Target="/ppt/notesSlides/notesSlide2.xml" Id="Rdb5c6aa6afb846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af6b1f6624850" /><Relationship Type="http://schemas.openxmlformats.org/officeDocument/2006/relationships/notesSlide" Target="/ppt/notesSlides/notesSlide3.xml" Id="Rc39a970c74a44e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34eaac3fb46b3" /><Relationship Type="http://schemas.openxmlformats.org/officeDocument/2006/relationships/notesSlide" Target="/ppt/notesSlides/notesSlide4.xml" Id="R9994fd946f2e40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e12aafa59483e" /><Relationship Type="http://schemas.openxmlformats.org/officeDocument/2006/relationships/notesSlide" Target="/ppt/notesSlides/notesSlide5.xml" Id="R61217c2345c34b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0c4eddcfb4ab2" /><Relationship Type="http://schemas.openxmlformats.org/officeDocument/2006/relationships/notesSlide" Target="/ppt/notesSlides/notesSlide6.xml" Id="Rd79a7ef56b8043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d39ed98614517" /><Relationship Type="http://schemas.openxmlformats.org/officeDocument/2006/relationships/notesSlide" Target="/ppt/notesSlides/notesSlide7.xml" Id="Rdde1f4d2bf9d4f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783156a154231" /><Relationship Type="http://schemas.openxmlformats.org/officeDocument/2006/relationships/notesSlide" Target="/ppt/notesSlides/notesSlide8.xml" Id="R2898310fd58346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15654179b435c" /><Relationship Type="http://schemas.openxmlformats.org/officeDocument/2006/relationships/notesSlide" Target="/ppt/notesSlides/notesSlide9.xml" Id="R17fe19ff94a344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89177e1264911" /><Relationship Type="http://schemas.openxmlformats.org/officeDocument/2006/relationships/notesSlide" Target="/ppt/notesSlides/notesSlide10.xml" Id="R868375031c714b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1d2abdbc9456a" /><Relationship Type="http://schemas.openxmlformats.org/officeDocument/2006/relationships/notesSlide" Target="/ppt/notesSlides/notesSlide11.xml" Id="R9d2dbe505a0944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0f46156244b84" /><Relationship Type="http://schemas.openxmlformats.org/officeDocument/2006/relationships/notesSlide" Target="/ppt/notesSlides/notesSlide12.xml" Id="R649f3385715840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42C17-89E4-403F-8A49-12363593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1F09E-5384-42F6-A4F9-0FECA874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비동기 도메인 특화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2F54E-3326-40D3-939A-F52B782B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문서 RAG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805B8-50B9-420F-A2EE-21399C28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PDF, XLSX, Text 문서를 대상으로 파싱·인덱싱·검색·답변 생성을 분리한 근거 기반 RAG 백엔드 프로젝트입니다.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4BE27-3077-46D5-89A1-5C86A99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F26B4-DE49-44A7-BD64-C3FF602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PDF page/table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D7069-5978-4DB6-B094-6A32885F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D4A5C-1E95-4FFE-9E5B-D8EFE345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814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rPr>
              <a:t>XLSX sheet/cell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F1522-A337-4D01-ADDA-4A9B075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D030E-5276-4E56-9DE9-4EEF1D88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814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B54C4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B54C4"/>
                </a:solidFill>
                <a:latin typeface="Malgun Gothic"/>
                <a:ea typeface="Malgun Gothic"/>
                <a:cs typeface="Malgun Gothic"/>
              </a:rPr>
              <a:t>Text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8A968-995F-452C-885D-B2971AB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617CC-AD3F-43D0-808F-CDE148E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814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rPr>
              <a:t>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63246-1AE7-4FAA-B451-D65B3C63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57A61-4298-4283-AFBE-C573EED0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E9172-BAB9-400B-8D79-39DABCED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668D0-378A-4AD1-9634-FB679446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66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F8059-53FF-4855-A5FE-B37DBA3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85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프로젝트 가치와 문제 정의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75EE0-58A8-47CD-A1DC-936DA1D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73DC7-88FD-4702-B292-7DE4E95D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DE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6DEE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F7983-1AB1-4CB0-BF1B-2E5B5A8F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F3F59-E645-4298-848F-CE9FF626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955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비동기 처리와 문서 구조 보존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41ED1-3A45-43B2-A005-9A3B8067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76C67-E634-498E-B469-DC08C2DF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DE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6DEE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798D3-10E4-4680-8450-C9BCD0AE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86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C20E3-7471-437C-A778-097E859A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검색 후보와 답변 근거 분리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53DE1-9BF6-433A-9C17-BB356984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1DC82D-4901-42A4-AD83-C6625512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DE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6DEE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86B31-1846-4642-B9D1-C854BA2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5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0808F5-167B-45E7-87F8-EDA7AE7E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diagnostic-only 수치와 과적합 방지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B48A26-6F61-46B7-B8AB-B91734E8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11535C-3B12-41D6-BE3C-97236948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9715696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DB9A64-9A0F-479E-89BD-F347D2F7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13039-344B-42E0-898D-81ADDC78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C4398-4D5A-4D7D-805E-A272A686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BBF87-723E-4057-A66F-92E8B5A8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247CD-0FDB-4910-BF26-3A837081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30초 요약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0F706-6C7D-4A92-8CA9-BE7C788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Text-only RAG 구조를 PDF/XLSX/Text 혼합 문서 처리 파이프라인으로 확장하고, 질문 유형별 검색과 fail-closed 응답 정책을 적용했습니다.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C83C2-A531-48FF-959B-EEF7EDF4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AD1F4-DD84-49FE-999B-A1B4935B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92BEC-47D5-4F78-B3A8-82F99038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3A5AE-04F1-45BE-A816-0DF6CBDB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B0B5E-0E29-4BF2-ADCE-75DC29D5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9BF8E-9FFD-4793-A1EA-8036F718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883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Text 중심 검색을 PDF page/table, XLSX sheet/range/cell, Text chunk 단위 근거 관리로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0A1C5-D929-440D-B5D8-03C8C03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E"/>
          </a:solidFill>
          <a:ln xmlns:a="http://schemas.openxmlformats.org/drawingml/2006/main" w="0">
            <a:solidFill>
              <a:srgbClr val="087C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18931-CBF4-47FF-9192-A03AF9B9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BFAD2-8667-4F8A-9A18-44F97BC5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89E7F-B7AB-40FC-B92F-67EB93CD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883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업로드, 파싱, 인덱싱, 검색, 답변 생성을 분리해 상태와 실패 원인을 추적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63E99-6A0E-4A8E-8CAD-31BD001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FAC30-3DE8-43CA-AAFE-79819606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BE166-548F-45BA-B2CB-1885E5A9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제어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DA5D5-EE60-437F-BF5F-A12A2BC7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883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질문 유형에 따라 Vector, Keyword, Metadata, Table Search를 조합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164E4-A300-4DB6-BB44-2BBD4FFF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B35"/>
          </a:solidFill>
          <a:ln xmlns:a="http://schemas.openxmlformats.org/drawingml/2006/main" w="0">
            <a:solidFill>
              <a:srgbClr val="B43B3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4B2EB-1858-4879-A7FA-76CF6577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320DA-69A9-48D1-A986-A4C6F99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방어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5343B-0E29-49C3-9A67-C1FB31CB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67250"/>
            <a:ext cx="883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근거가 얇거나 질문 범위가 과도하면 답변을 만들지 않고 fail-closed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B4D12-6ABB-4A83-ADEE-41A338A0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본문은 핵심 흐름과 실제 예시를 빠르게 읽는 구조입니다.</a:t>
            </a:r>
          </a:p>
        </p:txBody>
      </p:sp>
    </p:spTree>
    <p:extLst>
      <p:ext uri="{BB962C8B-B14F-4D97-AF65-F5344CB8AC3E}">
        <p14:creationId xmlns:p14="http://schemas.microsoft.com/office/powerpoint/2010/main" val="3449243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024C61-132B-4EF9-9624-B70FFE1F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C1D48-32C1-428E-B8FF-CCEE675C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FDE5C-848F-4DC7-A470-1CBFF00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E9F4F-59A4-4A5E-993B-A1246709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4D834-5C89-4661-ACBB-C7B1A98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0D636-008A-4E57-A128-D30E711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문제는 문서 형식, 처리 흐름, 검색 방식, 근거 판단, 평가 방식이 한꺼번에 섞인 데서 시작했습니다.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103C8-C113-4CED-8798-D04066CA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A82A5-AB16-4E7F-8E19-89EA49A9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10340-FCD5-40B1-861F-0F17CEB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821D6-D63D-43A0-BD55-3A7C41AC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8A43A-7974-46A0-821E-83D4A03F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28850"/>
            <a:ext cx="1038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Text 중심 처리로 인한 PDF/XLSX 구조 손실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0074B-1C5D-4BD9-8427-56BABC66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E"/>
          </a:solidFill>
          <a:ln xmlns:a="http://schemas.openxmlformats.org/drawingml/2006/main" w="0">
            <a:solidFill>
              <a:srgbClr val="087C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E70DA-0951-4483-AAF1-AED5A645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BE7C5-ED2D-46D7-8259-60FF1675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1038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대형 문서 처리 지연과 실패 추적 어려움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1D498-7299-4C98-9274-D138F04F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3E58A-F855-4D3E-98F9-82AB5309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041C9-4E6A-4DE9-A913-417FF45D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1038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단일 Vector Search의 한계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DD890-09FF-4686-81BF-2F494501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6A1A"/>
          </a:solidFill>
          <a:ln xmlns:a="http://schemas.openxmlformats.org/drawingml/2006/main" w="0">
            <a:solidFill>
              <a:srgbClr val="A06A1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D26CC-A8D2-49AE-9E8C-11360CF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06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A06A1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80947-A488-4B39-9535-D2D15E0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1038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검색 후보와 실제 답변 근거의 혼동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8ADA7-B331-4D8B-ACEE-8683603F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B35"/>
          </a:solidFill>
          <a:ln xmlns:a="http://schemas.openxmlformats.org/drawingml/2006/main" w="0">
            <a:solidFill>
              <a:srgbClr val="B43B3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04478-30F6-49F9-9D95-89DB4CD6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A2175-6F10-4BEC-AD26-104CAF2A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1038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평가셋 과적합 위험</a:t>
            </a:r>
          </a:p>
        </p:txBody>
      </p:sp>
    </p:spTree>
    <p:extLst>
      <p:ext uri="{BB962C8B-B14F-4D97-AF65-F5344CB8AC3E}">
        <p14:creationId xmlns:p14="http://schemas.microsoft.com/office/powerpoint/2010/main" val="403523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C54B2-8645-4431-9EFB-339E9B81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E531C-516A-4D32-8173-22FF0E0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DD1C1-1B66-43A7-BCD7-71639963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F5A92-6698-4436-B195-1D70CAA2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E2645-9BEB-4E01-9094-933D46E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전체 시스템 아키텍처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FB349-C983-47BA-A92D-80B4DAC0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업로드, 파싱, 인덱싱, 검색, 답변 생성을 분리해 각 단계의 책임과 실패 원인을 볼 수 있게 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CC80A-B698-4DE0-BCC5-A574357D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2A987-2DC7-4350-B76B-EE5D23A8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541B2-8F3F-4688-9D67-54AE813B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E0219-B624-47D8-8042-06D5A99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사용자/화면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433C5-C1B9-47E8-920D-756280A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A0A0-D7B1-418B-BCC3-1D2D6992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860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178A0-E77A-4B88-8B72-C17F16B3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E0701-2B37-43BD-9417-CAD44783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86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Spring Boot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F59FE-1708-492A-8984-F670DD6D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812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B7C8D-AF1E-4045-8847-A68E2579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1145B-57CB-4E9E-97FE-88D972DE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ED36C-12D4-4B40-A8A7-86F5240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86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Job 상태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E217C-BC21-41E0-99C8-3AEB059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51FD3-4101-406A-8B3D-8CC6F49B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860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8C745-848C-4075-950A-95CDB767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1A4A0-F9C7-44BE-8B73-E80B564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Redis 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B2B1A-715B-44D5-ADA2-7C190D68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812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15827-A86B-4234-B850-1AD4B695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860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429EB0-F7D4-47C3-9FC3-91A8D98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32FA4-A0CA-4B05-A61C-025A8C0D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86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FastAPI worker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32322-3B19-4E24-8B26-BA0632A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D4727-52B0-4D51-AFF8-D53BD388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문서 파싱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93BBD7-05DA-44D2-9182-48296E0A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909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22A93-B510-4A5A-8311-86D5D48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7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CC5AB4-366E-4E6B-B390-883AE73F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341A9-EFD5-41C6-A433-204CF099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95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SearchUnit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C8D2CF-9C47-4A9D-AD68-B7FC783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909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E8D78-D42F-4406-960F-13C138CF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957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3FBD5-0437-4135-B8B9-888BCF62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970FD8-0AE6-4281-B919-764C745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95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SearchView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324AB7-B21C-4F02-BB6F-BFFE3076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909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EF550B-B823-4EA4-96BB-AA83A2A4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957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CDB5EF-BC69-477B-B0D6-12575D56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276BB1-05D5-4B34-AAF5-1A8FC0EB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95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EvidenceBundle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AF386C-7699-4DAC-AA9F-DDA3D50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909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17A708-3DD6-4E97-AFFB-1E63E684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957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2FE8C9-EA3A-44DE-9597-1CE7FE9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33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52DD3C-9CF8-4936-9073-9ADFE41B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95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답변 + citation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5B4561-CAF0-42D4-A9C6-9F54F75B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258276-B89E-4ECF-B7BF-2174E149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API 서버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725718-7028-4CFB-A439-4E08D5E4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요청 수락, 작업 ID 발급, 상태 조회, 결과 artifact 조회를 담당합니다.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C55558-7F4A-47D2-8C1D-A19F30E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97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EF85D9-4B4C-461C-BC7D-90A9E032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72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AI worker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A18E5E-91C1-4DF1-971C-0D4934BF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959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문서 형식별 파싱, 검색 후보 조립, 답변 근거 검사를 수행합니다.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77F171-BF5F-459E-B667-05EF3B0F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4C4"/>
          </a:solidFill>
          <a:ln xmlns:a="http://schemas.openxmlformats.org/drawingml/2006/main" w="0">
            <a:solidFill>
              <a:srgbClr val="5B54C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7098E1-63D0-4D72-B5AF-E9BB7182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72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근거 계약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F739A8-9BF8-4442-8DD6-871B7F15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959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 page/table, XLSX sheet/cell, Text chunk를 유형별로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589985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B7958A-6E70-4D4E-AC18-042E86B2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2399F-25D9-49FF-860D-B406F4B6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7DFFF-7FE9-4867-A051-E4032D8D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287F4-CE37-4C6A-871E-B893BD9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170C8-F27D-4AD1-B194-42CB312B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비동기 문서 처리 파이프라인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7F19F-FBC1-44E0-801C-2B4DC350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대형 PDF/XLSX 처리를 요청-응답 흐름에서 분리하고, 작업 ID 기준으로 상태와 실패 원인을 추적했습니다.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CA91D-44C4-4C80-97AF-48EF80B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E2ECD-783C-42DC-A488-D8C2F13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9DD91-3D68-4503-9810-DAA6CAC9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29D01-525F-408C-9D02-2842798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02715-9B98-4F36-8817-5C79F682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job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A0B0E-4D71-4868-B47A-69DC49E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작업 ID와 초기 상태를 먼저 만듭니다.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18E6B-DFD9-4B83-A096-8F00E753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E"/>
          </a:solidFill>
          <a:ln xmlns:a="http://schemas.openxmlformats.org/drawingml/2006/main" w="0">
            <a:solidFill>
              <a:srgbClr val="087C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B2C88-EAEC-40D8-AA33-F3A2C3AB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E11ED-7F6F-4A52-BAC5-7752336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DE051-5A44-484D-B9A2-CD041A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Redis signal로 worker 처리를 깨웁니다.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EE754-E64D-4E01-965A-15916264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25C6D-EAA7-4F1D-8EB7-596401C0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C2C43-7F14-49CB-9332-4FE49A59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parse/index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AA0D3-997D-4432-8868-DB77BCF2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문서 형식별 파싱 결과를 검색 단위로 정리합니다.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196BD-94BD-43C2-879B-9793BA10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4C4"/>
          </a:solidFill>
          <a:ln xmlns:a="http://schemas.openxmlformats.org/drawingml/2006/main" w="0">
            <a:solidFill>
              <a:srgbClr val="5B54C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28717-6129-45DE-B831-11D9BF3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54C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54C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4150B-A45C-4227-82E7-A97F74A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result artifact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499D7-9A54-4783-AE8D-F07CB83B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답변, 근거, 실패 사유를 조회 가능한 결과로 남깁니다.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C0E1E-7C03-4FF8-AA3D-B8D9618C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93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요청은 짧게, 처리는 추적 가능하게, 실패는 단계별로 남기는 구조입니다.</a:t>
            </a:r>
          </a:p>
        </p:txBody>
      </p:sp>
    </p:spTree>
    <p:extLst>
      <p:ext uri="{BB962C8B-B14F-4D97-AF65-F5344CB8AC3E}">
        <p14:creationId xmlns:p14="http://schemas.microsoft.com/office/powerpoint/2010/main" val="20647024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50833-EB96-44D9-B45D-D35B110A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8EF42-4F54-4372-8B08-7EC1F94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0D6EA-BAAA-4E6E-ACB7-4920AEA2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918BE-DE2C-4122-A871-D764ADD1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831C0-9A0C-490B-A4F6-B7F7BA8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문서 형식별 구조 보존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199F6-E84D-439B-9F03-BF420779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문서를 단순 문자열로 변환하지 않고, 답변 검증에 필요한 위치와 표시값을 문서 유형별로 보존했습니다.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8C825-ACEE-4C00-9C9E-6ACD6BE9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C5051-4AA8-49D6-8E06-674D6AC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FA97D-E4CF-4102-BDC2-C5D5B56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076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52513-F9E3-4408-943B-D36A2381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5401A-EC82-4B7B-9F90-E0DCF80B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717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보존한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AFB4E-9A72-45A1-BEF1-A4E8A2A8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86000"/>
            <a:ext cx="952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B18F-A3DA-4C0A-91CE-E0DBC51E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717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확인 가능한 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872FB-B2BC-46EB-933A-302CB372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952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4AFB1-80C6-41BF-B08E-E2B722F2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ED63B-4D0D-4EBA-8C3C-1FC3F7E9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13A29-3E22-4BB7-9DB9-FA2F952B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0510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페이지, 문단, table context, page citation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BF155-7CC7-475B-B025-AEC96626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표 안의 값도 문서 페이지와 함께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C4722-FA8A-45D4-A09F-F50C5E5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9EFDD-80CD-4829-B2B3-540F13E0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XLSX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F4EA8-961B-43A5-B0D2-FB24061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099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sheet, range, row, column, header, cell, display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80922-2A2E-49F4-A365-2BD02240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조건 행과 응답 셀을 분리해 추적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57757-0FAD-4BD0-9FDB-132C97A0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CCE85-115A-42A5-ADB7-EEC8EA0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B13A6-A20C-4EAE-8571-6312536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chunk, source context, locator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883C8-2365-4F8D-AC7E-82E7DACA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서술형 문맥에서 근거 위치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613EE-2EA3-482A-A4E9-86E973B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E"/>
          </a:solidFill>
          <a:ln xmlns:a="http://schemas.openxmlformats.org/drawingml/2006/main" w="0">
            <a:solidFill>
              <a:srgbClr val="087C8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421AD-9769-4163-9F1B-22B1A3FF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93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C8E"/>
                </a:solidFill>
                <a:latin typeface="Malgun Gothic"/>
                <a:ea typeface="Malgun Gothic"/>
                <a:cs typeface="Malgun Gothic"/>
              </a:rPr>
              <a:t>핵심 메시지: 문서를 단순 문자열로 변환하지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3017486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EFE2F-C547-45C2-A23B-4F5A861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F3042-CF9F-4876-8AFE-944897F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342E6-FFA5-402F-87E4-A8B32D14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03C66-34E9-404D-87C5-82A69D1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62F61-2AB6-4CCB-BA95-6A559464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검색 후보와 답변 근거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41A8E-17FC-4EC6-AF0F-12B16646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검색 결과가 존재해도, 사용자가 확인할 수 있는 원문 근거가 충분할 때만 답변으로 연결했습니다.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4C3EE-A8BA-4493-92CA-80BD8679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997E8-8039-498F-B1C5-F80C28C4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F3992-D542-4FB1-A9AB-2D2FC77F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BB4C7-045D-4676-BD3A-DD15518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59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“검색되었다”와 “답변할 수 있다”를 분리했습니다.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21525-94C8-451A-851F-237CFB6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C55FB-5BD3-47F8-A20B-D0283D6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81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EEE27-68AF-4AD2-BEAD-CE4289B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76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9109F-5228-4B28-888E-6ADE322D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31E51-9169-468D-8CFE-B57CA820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7F630-3342-4638-99D7-81565E30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후보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0D6AD-BFEC-41E9-8863-C19C5393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F5DED-E8DC-4A24-845B-C7C1FFD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13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F3BCA-6782-4B96-8218-2F2A96F3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BE342-920D-4D2A-BBD4-BD80CE7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81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CDAC1-3A75-4A17-BDBB-89C74654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FC544-64A6-4E4E-99F9-3357878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813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DF194-CDCF-4782-B17A-E96C56FC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A8566-8D14-4BFB-A984-6229A39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81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답변용 근거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E8905-CCD7-4254-9BD3-358A30E5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76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8A96A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474FB-B193-46D9-B5CA-1E2B3C7C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813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1D666-E933-490E-9FFE-875E55FD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6050C-03E4-4D2B-9D53-CE6C650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충분성 판단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621E58-C0E7-400B-B145-086CA76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76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AC84A-BDFB-4AAA-B33E-0A4582B5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7C7A9-0557-425C-BBE9-387DEBAE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2917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D25426-735C-4531-A3AA-8F578EE0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43450"/>
            <a:ext cx="95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D30A6-81CE-4155-BB88-D01EE00E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2917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68E22-7C13-43C6-8F1C-0FA64959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43450"/>
            <a:ext cx="95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889E9A-6527-4524-90AA-DD6448C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81DA74-3896-4178-A9D8-2F2C6E92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DA3441-74D3-43EA-A9A9-4C73419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625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관련 있어 보이는 문서 조각 후보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A668B1-D198-4E9F-8790-57A1A0F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6255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바로 답변 근거로 쓰지 않음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05016C-A6D9-4898-BF3B-A54AE957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CCC50-2C69-472D-98D8-7C9B0D7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8CA2F-76C7-4ECA-8B03-75BAB359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197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 page, XLSX cell, Text chunk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58D32D-5CA9-4636-A4DE-EF769E5A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1975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사용자가 확인할 수 있어야 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4BAE39-EDCE-405A-A2BB-42350A7C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6FD490-5AF7-4ECF-B655-4C82AAE3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답변용 근거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DB8575-07E3-4017-A8B4-7BACE029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769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질문에 필요한 범위와 값이 충분한 근거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8D664B-738A-4852-8432-6B16BDE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7695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부족하면 fail-closed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EB31D7-66CB-4426-941F-1F1627B4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</p:spTree>
    <p:extLst>
      <p:ext uri="{BB962C8B-B14F-4D97-AF65-F5344CB8AC3E}">
        <p14:creationId xmlns:p14="http://schemas.microsoft.com/office/powerpoint/2010/main" val="17954956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3D299-ECAA-4690-8210-8C50FD5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E86BB-327A-4C57-906A-2F7BF39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47BB7-549B-4620-B5C1-EA9E00A3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D5492-430F-4681-99B2-5C09F5E8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4E174-93F7-40A7-8E9F-0D9AB9ED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질문 유형별 검색 제어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C79DF-6521-42CF-9BDA-0B15285F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모든 질문을 하나의 Vector Search로 처리하지 않고, 질문 유형에 따라 검색 방식을 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D5F4F-22AB-4011-A05F-767FB45E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BAF4F-D0CB-41F5-BDC0-D778431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44C0A-07AE-486C-B76B-56C8A079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D8334-0988-43EF-B3CD-BE6C401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Vector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FD1A4-B836-4A38-8F00-8490FB1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서술형 의미 유사도와 문맥 후보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C3EAB-16D5-4154-A253-B39FA7F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E"/>
          </a:solidFill>
          <a:ln xmlns:a="http://schemas.openxmlformats.org/drawingml/2006/main" w="0">
            <a:solidFill>
              <a:srgbClr val="087C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8E7C4-9275-4115-83E9-CE7D6B27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Keyword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05D81-58D1-446C-B740-3645C4C6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고유명사, 항목명, 숫자축 같은 명시 단서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E2B11-4801-4BF0-BBB1-A73360C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4C4"/>
          </a:solidFill>
          <a:ln xmlns:a="http://schemas.openxmlformats.org/drawingml/2006/main" w="0">
            <a:solidFill>
              <a:srgbClr val="5B54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CF18C-606D-4217-80C6-369DB54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Metadata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DAF25-DBD3-431E-B78C-B763DBF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1462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파일, page, sheet 등 위치 단서 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E942A-8180-4A46-911C-D08218F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3B8A8-A8DB-4F44-AFF6-C67CA07F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Table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9B371-D6DB-4109-A7A9-0408D7EF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행/열/헤더/셀 표시값이 필요한 표 기반 질문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3D30C-C807-4626-96DA-AA62371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6A1A"/>
          </a:solidFill>
          <a:ln xmlns:a="http://schemas.openxmlformats.org/drawingml/2006/main" w="0">
            <a:solidFill>
              <a:srgbClr val="A06A1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6E499-10F3-443D-AF29-4C4E18C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후보 재정렬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29D30-3F67-41FE-BD08-D071334A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0522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질문 조건과 근거 품질로 후보 순서 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32C95-2016-48A9-8239-F53E366B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B35"/>
          </a:solidFill>
          <a:ln xmlns:a="http://schemas.openxmlformats.org/drawingml/2006/main" w="0">
            <a:solidFill>
              <a:srgbClr val="B43B3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192C4-12F5-49B2-B622-1C8702E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답변 가능 여부 판단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73E3B-EBBA-442A-B46B-B8A318F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0522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근거가 얇거나 범위가 과도하면 생성 중단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5C41E-CE79-486B-B2C9-315994C6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E8B1F-83B5-4067-BE32-E018DDAF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3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목표는 검색 도구 나열이 아니라, 질문이 요구하는 근거 형태를 먼저 좁히는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9627129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76FB4-EA54-4A3C-9FD1-55B7C9BB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6FCCA-79C8-4C62-A812-EBC09AB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28023-65A1-4D5C-9BC0-68542E0A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755EB-BB06-4B37-97AF-D68E308A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909AD-1FF0-4DBF-A24E-D2A07DB3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대표 질의응답 사례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78FBA-DA53-4D33-AF50-568109B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문서 유형별 대표 성공 사례와 근거 부족으로 답변하지 않은 사례만 압축해 배치했습니다.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3F74D-4B47-44F2-8597-2A92730F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F9289-4858-42E5-813E-DB03956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C5ACD-1CA8-4C22-94FB-E8C9F259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rPr>
              <a:t>성공 사례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C175D-C50E-42A5-AA14-6D9B4752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37499-AF01-4F1B-A2CD-A2B1CBB6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53B30-20C7-4BD7-9B43-269A51C5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4792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87DA7-39E1-42F3-B469-D1648D4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62200"/>
            <a:ext cx="952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442CF-6263-48D0-943D-1FE67B74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47925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응답 요약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A96E5-6E26-4F3D-964B-FDDD843A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952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20FC9-5F95-4E60-8BB1-170C2179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F2BB3-8992-48D8-AFB3-76A7A7C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77291-1D89-4EA7-AAE2-0BDEDA7F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81300"/>
            <a:ext cx="419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유우야키의 나이와 생일은 어떻게 적혀 있어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A1089-13D4-48F1-935C-7C06B08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485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유우야키의 나이는 16세이고 생일은 9월 29일입니다.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9BB7F-A679-4741-9046-3ECAA5D6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D25AF-2E83-494C-AF97-819304F3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7E5BD-58AE-48A8-B210-D2DA0A94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09925"/>
            <a:ext cx="419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2020년 한국 원달러 기말 환율은 얼마인가요?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128B9-A1B8-44D2-8A12-759C2BB5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9925"/>
            <a:ext cx="485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2020년 한국 원달러 기말 환율은 1,088.0입니다.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C7F3E-C1A3-4711-B7CA-03DABA29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9FBE5-0D94-419E-8CBA-6FC63B2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XLSX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7E013-1D6A-44AC-8025-1825720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38550"/>
            <a:ext cx="4191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2019년 2월 5호선의 승차총승객수는 몇 명입니까?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C2A61-71EB-4157-A94A-3E80D0F6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485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2019년 2월 5호선의 승차총승객수는 15,446,522명입니다.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F84DA-018A-4764-9E0A-32FBCAE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27B14-8051-46DF-8236-CEC8614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43B35"/>
                </a:solidFill>
                <a:latin typeface="Malgun Gothic"/>
                <a:ea typeface="Malgun Gothic"/>
                <a:cs typeface="Malgun Gothic"/>
              </a:rPr>
              <a:t>fail-closed 사례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1927B-6BA6-4EC2-A27C-7DDEE81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958E13-A8D1-4567-9A5D-A4A3155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유형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523B82-2F56-4486-94F1-439985D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862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사유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0347BF-6DE4-4A17-980F-E5F34CE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95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766C39-2E39-4CDA-8175-1A00F46A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86275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A9C1A0-925A-4477-BC4D-091034F3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00550"/>
            <a:ext cx="95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341B5F-3B08-4016-AA4C-1C3BD29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ABCA3A-AAED-477F-AB35-9097EA7E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096E83-8FD9-478B-9440-D042E3E2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content window가 얇은 사례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3F05D0-84CF-417F-B09F-BA39F86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19650"/>
            <a:ext cx="581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diagnostic-only fail-closed: PDF_CONTENT_WINDOW_TOO_THIN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00396F-A8EC-4D7E-9E91-B53C1C47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163B93-5D29-41FA-AA5C-7184B26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XLSX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E567A3-6EB3-4452-A3C3-008BE6D3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anchor가 부족한 사례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A0793F-C88F-4F5E-8486-DBA2DAE9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81600"/>
            <a:ext cx="581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diagnostic-only fail-closed: XLSX_QUERY_ANCHOR_MISSING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8CFF2B-F295-4DB8-8EA5-CACDDFEC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8B2F6A-747F-4C9F-B23B-8BB99AD4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XLSX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A03486-953A-45F7-A509-EF38038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435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과대 범위 요청 사례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01EC4A-0E8C-4CD3-AB92-A22C987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43550"/>
            <a:ext cx="581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diagnostic-only fail-closed: UNSUPPORTED_RANGE_TOO_LARGE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7DB76A-EE66-4CB5-87FC-CA832F39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B35"/>
          </a:solidFill>
          <a:ln xmlns:a="http://schemas.openxmlformats.org/drawingml/2006/main" w="0">
            <a:solidFill>
              <a:srgbClr val="B43B3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45D476-D40F-4899-8F76-07E5C529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F5FBF"/>
                </a:solidFill>
                <a:latin typeface="Malgun Gothic"/>
                <a:ea typeface="Malgun Gothic"/>
                <a:cs typeface="Malgun Gothic"/>
              </a:rPr>
              <a:t>GitHub: ai/eval/README.md</a:t>
            </a:r>
          </a:p>
        </p:txBody>
      </p:sp>
    </p:spTree>
    <p:extLst>
      <p:ext uri="{BB962C8B-B14F-4D97-AF65-F5344CB8AC3E}">
        <p14:creationId xmlns:p14="http://schemas.microsoft.com/office/powerpoint/2010/main" val="20930543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8253B-215C-4C8C-97CD-47519B5D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D234D-5B2D-4493-9080-82946E7F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9CF29-0D5A-4FE9-849C-02FFDBD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EA527-BAD9-4F1D-B152-DCBE63A4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DEAE-013B-4EE7-87A5-3B0F298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문서 처리 병목 측정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0BCDF-CDCD-449D-A118-3D0A4A6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성능 수치는 최종 답변 품질을 증명하는 지표가 아니라, 문서 처리 경로를 점검하기 위한 내부 진단으로 제한했습니다.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65D39-3E17-49F9-8CD1-E0319CA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F774C-C4A2-4866-A9AB-622A39F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48063-4582-4397-A0E1-6820E0D8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0934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B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082E5-E8D5-4F88-A57A-8E9DDE7A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59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이 수치는 검색 정확도나 최종 답변 품질을 직접 증명하는 지표가 아니라, 문서 파싱·정규화·중복 판단 등 문서 처리 경로의 내부 진단 지표입니다.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D523E-130E-417B-9FE3-EA4B9996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023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6DE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09303-8526-4C75-999E-93E66F2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측정 영역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51F26-7874-415C-8127-8702E19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099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repo 산출물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7002B-2028-48C1-BB39-022178B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52425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7AD0A-6C0C-4B10-BCE1-832251B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099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해석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1E879-5C49-4471-AB57-0EA199B1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52425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2ACD2-18B9-432D-9874-CAD557B9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1F49C-FFB2-4110-B525-00102089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XLSX display/range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480DA-9C65-408F-AD46-3CEB196E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433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14개 진단 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C2FB3-3633-4D8E-BCE1-688C66ED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433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표시값, 빈 셀, 작은 범위 응답 형태를 내부 진단으로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DA518-E53E-4C44-8EA3-DB20261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B48AF-37A4-4CCA-8591-344E9085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XLSX locator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085C9-30C7-4B3B-BC3D-312FE57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577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344개 seen 진단 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8F3C5-5C58-4808-A622-0E6C5D62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4577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공식 denominator가 아니라 구조 후보 상태를 보는 진단 표면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AAD4F-67AC-47C3-B7F8-D61B22F8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5470F-5133-46CD-B44C-298286D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 evidence window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1D95A-130D-4375-850E-3B70C20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720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329개 seen 진단 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28348-18CC-49EB-959D-F9194A2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9720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파일 식별과 답변 가능한 근거 창을 분리해 기록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E4497-FD6F-4C3B-9E9B-2FCA42E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EF4BEF-22A9-4E76-B0F5-95BEEB68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검수 패킷 dry-run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4F73F3-055A-4687-8EA5-2C5E9A96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4864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29개 run-local 입력 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EA3137-E2F8-4ADC-8FAC-10251785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4864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최종 공식 점수 실행이 아니라 입력 계약 dry-run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C121E-077F-47CE-A3C3-B07C7F4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023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6A1A"/>
          </a:solidFill>
          <a:ln xmlns:a="http://schemas.openxmlformats.org/drawingml/2006/main" w="0">
            <a:solidFill>
              <a:srgbClr val="A06A1A"/>
            </a:solidFill>
          </a:ln>
        </p:spPr>
      </p:sp>
    </p:spTree>
    <p:extLst>
      <p:ext uri="{BB962C8B-B14F-4D97-AF65-F5344CB8AC3E}">
        <p14:creationId xmlns:p14="http://schemas.microsoft.com/office/powerpoint/2010/main" val="2969171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3ED4F-366C-4892-8E20-DE48D037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5A210-4B00-4C25-8B4D-8F8ACB1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9C735-84AA-49A1-8753-C73A5DCB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F2386-FF03-4401-BB85-368FE6C4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5FE9E-DCD1-4C4E-B16B-69738C3C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평가와 과적합 방지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98AF7-C917-429D-B6DD-1CACB436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실패를 단순 오답으로 보지 않고, 검색·정렬·문서 처리·답변 생성 단계로 나누어 원인을 기록했습니다.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E6EFE-778F-4609-8859-D6F5C264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2EE38-7E61-4D09-B4D7-28332D91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F82F6-D2DC-4973-978F-B5A530DF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5"/>
          </a:solidFill>
          <a:ln xmlns:a="http://schemas.openxmlformats.org/drawingml/2006/main" w="9525">
            <a:solidFill>
              <a:srgbClr val="A9D8C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96F24-1088-4885-B2DA-332E8267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59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7A55"/>
                </a:solidFill>
                <a:latin typeface="Malgun Gothic"/>
                <a:ea typeface="Malgun Gothic"/>
                <a:cs typeface="Malgun Gothic"/>
              </a:rPr>
              <a:t>프롬프트를 특정 질문에 맞춰 고치는 대신, 실패 원인을 검색·정렬·문서 처리·답변 생성 단계로 분해했다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814CF-A396-4C9D-8463-65B7AF7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2150A-360C-49E7-8F62-BE901E35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후보 근거 부족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61BF0-B961-445B-AA56-66DBDA3D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검색 후보 안에 필요한 근거가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3352B-0B25-4978-AAD5-107EAFB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E"/>
          </a:solidFill>
          <a:ln xmlns:a="http://schemas.openxmlformats.org/drawingml/2006/main" w="0">
            <a:solidFill>
              <a:srgbClr val="087C8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EA07B-1887-4BC2-B2E5-4CD8ADC9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후보 순위 문제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B4AA7-2313-4919-9BB1-5E34ED1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4807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근거는 있으나 top-k 안에서 밀림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E6C98-BF8D-45F5-A6D9-4A6D5D06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194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6A1A"/>
          </a:solidFill>
          <a:ln xmlns:a="http://schemas.openxmlformats.org/drawingml/2006/main" w="0">
            <a:solidFill>
              <a:srgbClr val="A06A1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C5E08-1653-41C5-8BED-AFAB6A7D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18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문서 구조 문제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21E32-3779-4A3D-877D-FC0A0B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4807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PDF 표, XLSX 행/열 축을 잘못 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63686-85EC-4A4F-9BD1-6475B816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4C4"/>
          </a:solidFill>
          <a:ln xmlns:a="http://schemas.openxmlformats.org/drawingml/2006/main" w="0">
            <a:solidFill>
              <a:srgbClr val="5B54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D882F-EC56-4171-AF8B-D7F1A654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답변 생성 문제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51089-6171-408E-B4F3-7BEC6B37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3867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근거는 있으나 응답 문장 조립 실패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D5E99-7FDF-44FF-97E5-4B6AC6EE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B35"/>
          </a:solidFill>
          <a:ln xmlns:a="http://schemas.openxmlformats.org/drawingml/2006/main" w="0">
            <a:solidFill>
              <a:srgbClr val="B43B3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F7AF1-D1F7-4F18-A31C-B9EE0B8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답변 불가 문제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0A2AB-B6E0-4447-A863-A523CBFF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3867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근거가 얇거나 범위가 과도함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86770-C7C4-4DE1-8B32-FF9B69D1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100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20D202-BDA0-4122-B2ED-0FF6FEB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검수 필요 항목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4316C-CAEC-4736-B425-1D07A859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38675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relevance, answerability, gold policy는 사용자 판단</a:t>
            </a:r>
          </a:p>
        </p:txBody>
      </p:sp>
    </p:spTree>
    <p:extLst>
      <p:ext uri="{BB962C8B-B14F-4D97-AF65-F5344CB8AC3E}">
        <p14:creationId xmlns:p14="http://schemas.microsoft.com/office/powerpoint/2010/main" val="19263698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4AA12-C739-4375-99E8-BCA6FA0A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344FE-D00D-47DF-8C70-E83B62EA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Async Document RAG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D9E51-0602-44B3-8EDF-72722015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97DE5-9710-4254-A1CD-6E38690F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2AF09-23B5-4330-9800-599FDD9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결과와 한계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3D22A-7B3D-49D4-BAD0-37140844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결과는 구조적 개선으로 정리하고, 운영화 관점에서 남은 보완 방향을 명확히 분리했습니다.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0C598-64F7-4D52-AFAD-A5F9DC9D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0">
            <a:solidFill>
              <a:srgbClr val="D6DE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BBB50-36D5-48A2-88AF-FE25C245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572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6A3"/>
                </a:solidFill>
                <a:latin typeface="Malgun Gothic"/>
                <a:ea typeface="Malgun Gothic"/>
                <a:cs typeface="Malgun Gothic"/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E4517-8241-481B-9BF3-2B84455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55"/>
          </a:solidFill>
          <a:ln xmlns:a="http://schemas.openxmlformats.org/drawingml/2006/main" w="0">
            <a:solidFill>
              <a:srgbClr val="0B7A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38558-6D86-4E9E-B6F7-5263B993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개선한 부분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C1C04-A707-4573-8A72-6CB6441E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1. PDF/XLSX/Text 혼합 문서 처리로 확장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A45FB-FE16-404D-96AE-A5C70EB7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2. 작업 ID 기반 비동기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F80CD-E140-49AF-BA25-8D5C0F7F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3. 문서 구조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16C2F-6750-49E7-8519-B25E7380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4. 질문 유형별 검색 제어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B6F98-7AC0-4813-8A7E-D925510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5. 검색 후보와 답변 근거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F8A19-0335-4B64-9F43-51B2EC04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6. fail-closed 응답 정책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D889C-6278-4D2E-BE9A-5FAEE97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7. 실패 유형 분리와 평가 과적합 방지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9BE26-D692-4C1A-B141-E6711DD8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6A1A"/>
          </a:solidFill>
          <a:ln xmlns:a="http://schemas.openxmlformats.org/drawingml/2006/main" w="0">
            <a:solidFill>
              <a:srgbClr val="A06A1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BD011-935A-4094-A472-F65C0DC8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0262D"/>
                </a:solidFill>
                <a:latin typeface="Malgun Gothic"/>
                <a:ea typeface="Malgun Gothic"/>
                <a:cs typeface="Malgun Gothic"/>
              </a:rPr>
              <a:t>운영화 관점의 보완 방향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E96E5-BC30-47F4-8C68-490F0DB5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1. 문서 버전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EF7E6-F75E-4175-ABCB-5740E68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2. 권한 기반 검색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1DA76-38B9-4A5C-91BA-150EA76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3. 장기 regression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BA23C9-AB14-4408-840C-C3BEB62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86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4. 문서 유형별 대체 파싱 전략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01DCF-A5E4-4E25-8DE3-82EB617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5. 평가셋 관리와 검수 체계</a:t>
            </a:r>
          </a:p>
        </p:txBody>
      </p:sp>
    </p:spTree>
    <p:extLst>
      <p:ext uri="{BB962C8B-B14F-4D97-AF65-F5344CB8AC3E}">
        <p14:creationId xmlns:p14="http://schemas.microsoft.com/office/powerpoint/2010/main" val="1237664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2026-06-02T07:24:09.3800000Z</dcterms:created>
  <dcterms:modified xsi:type="dcterms:W3CDTF">2026-06-02T07:24:09.3800000Z</dcterms:modified>
</coreProperties>
</file>